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56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di_dlp_header">
            <a:extLst>
              <a:ext uri="{FF2B5EF4-FFF2-40B4-BE49-F238E27FC236}">
                <a16:creationId xmlns:a16="http://schemas.microsoft.com/office/drawing/2014/main" id="{EDF433D6-4B5F-4B3E-B452-23C302D40374}"/>
              </a:ext>
            </a:extLst>
          </p:cNvPr>
          <p:cNvSpPr txBox="1"/>
          <p:nvPr userDrawn="1"/>
        </p:nvSpPr>
        <p:spPr>
          <a:xfrm>
            <a:off x="10817685" y="0"/>
            <a:ext cx="1117614" cy="21544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tr-TR" sz="800" b="1" i="0" u="none">
                <a:solidFill>
                  <a:srgbClr val="FF0000">
                    <a:alpha val="60000"/>
                  </a:srgbClr>
                </a:solidFill>
                <a:latin typeface="Arial" panose="020B0604020202020204" pitchFamily="34" charset="0"/>
              </a:rPr>
              <a:t>Sınıflandırma: Gizli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" name="Shape 1"/>
          <p:cNvSpPr/>
          <p:nvPr/>
        </p:nvSpPr>
        <p:spPr>
          <a:xfrm>
            <a:off x="-342900" y="5120640"/>
            <a:ext cx="2011680" cy="2011680"/>
          </a:xfrm>
          <a:prstGeom prst="ellipse">
            <a:avLst/>
          </a:prstGeom>
          <a:solidFill>
            <a:srgbClr val="A855F7">
              <a:alpha val="4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881628" y="-369147"/>
            <a:ext cx="1371600" cy="1371600"/>
          </a:xfrm>
          <a:prstGeom prst="ellipse">
            <a:avLst/>
          </a:prstGeom>
          <a:solidFill>
            <a:srgbClr val="C4B5FD">
              <a:alpha val="50000"/>
            </a:srgbClr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dirty="0" err="1">
                <a:solidFill>
                  <a:srgbClr val="DDD6FE"/>
                </a:solidFill>
              </a:rPr>
              <a:t>FuzulEv</a:t>
            </a:r>
            <a:endParaRPr lang="tr-TR" dirty="0">
              <a:solidFill>
                <a:srgbClr val="DDD6FE"/>
              </a:solidFill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DDD6FE"/>
                </a:solidFill>
              </a:rPr>
              <a:t>Hafta</a:t>
            </a:r>
            <a:r>
              <a:rPr lang="en-US" sz="1000" dirty="0">
                <a:solidFill>
                  <a:srgbClr val="DDD6FE"/>
                </a:solidFill>
              </a:rPr>
              <a:t> 9–10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Bütünleşik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NLP Pipeline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DD6FE"/>
                </a:solidFill>
              </a:rPr>
              <a:t>OCR · NER · Duygu Analizi · RAG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749040"/>
            <a:ext cx="685800" cy="2560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20040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DD6FE"/>
                </a:solidFill>
              </a:rPr>
              <a:t>Görüntü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05840" y="3831336"/>
            <a:ext cx="118872" cy="9144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1124712" y="3749040"/>
            <a:ext cx="685800" cy="2560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124712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DD6FE"/>
                </a:solidFill>
              </a:rPr>
              <a:t>Metin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10512" y="3831336"/>
            <a:ext cx="118872" cy="9144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1929384" y="3749040"/>
            <a:ext cx="685800" cy="2560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929384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DD6FE"/>
                </a:solidFill>
              </a:rPr>
              <a:t>Varlıklar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15184" y="3831336"/>
            <a:ext cx="118872" cy="9144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734056" y="3749040"/>
            <a:ext cx="685800" cy="2560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734056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DD6FE"/>
                </a:solidFill>
              </a:rPr>
              <a:t>Duygu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19856" y="3831336"/>
            <a:ext cx="118872" cy="9144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538728" y="3749040"/>
            <a:ext cx="685800" cy="2560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538728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DD6FE"/>
                </a:solidFill>
              </a:rPr>
              <a:t>Cevap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21A8"/>
                </a:solidFill>
              </a:rPr>
              <a:t>Proje Özeti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12344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C4A7A"/>
                </a:solidFill>
              </a:rPr>
              <a:t>Türkçe belgelerden metin tanıma, varlık çıkarma,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C4A7A"/>
                </a:solidFill>
              </a:rPr>
              <a:t>duygu sınıflandırma ve sorgu-cevap sistemini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C4A7A"/>
                </a:solidFill>
              </a:rPr>
              <a:t>tekil bir pipeline'da birleştiren akademik çalışma.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0" y="2468880"/>
            <a:ext cx="2697480" cy="137160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5650992" y="2670048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2706624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291072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1A8"/>
                </a:solidFill>
              </a:rPr>
              <a:t>OCR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291072" y="29992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Görüntü → Dijital Metin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503920" y="2468880"/>
            <a:ext cx="2697480" cy="137160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7"/>
          <p:cNvSpPr/>
          <p:nvPr/>
        </p:nvSpPr>
        <p:spPr>
          <a:xfrm>
            <a:off x="8668512" y="2670048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2706624"/>
            <a:ext cx="457200" cy="4572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9308592" y="2651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1A8"/>
                </a:solidFill>
              </a:rPr>
              <a:t>NER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9308592" y="29992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Metin → Varlık Tanıma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486400" y="4023360"/>
            <a:ext cx="2697480" cy="137160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1"/>
          <p:cNvSpPr/>
          <p:nvPr/>
        </p:nvSpPr>
        <p:spPr>
          <a:xfrm>
            <a:off x="5650992" y="4224528"/>
            <a:ext cx="530352" cy="5303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4261104"/>
            <a:ext cx="457200" cy="4572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291072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1A8"/>
                </a:solidFill>
              </a:rPr>
              <a:t>Duygu Analizi</a:t>
            </a:r>
            <a:endParaRPr lang="en-US" sz="1500" dirty="0"/>
          </a:p>
        </p:txBody>
      </p:sp>
      <p:sp>
        <p:nvSpPr>
          <p:cNvPr id="38" name="Text 33"/>
          <p:cNvSpPr/>
          <p:nvPr/>
        </p:nvSpPr>
        <p:spPr>
          <a:xfrm>
            <a:off x="6291072" y="4553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BERT ile Sınıflandırma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503920" y="4023360"/>
            <a:ext cx="2697480" cy="137160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0" name="Shape 35"/>
          <p:cNvSpPr/>
          <p:nvPr/>
        </p:nvSpPr>
        <p:spPr>
          <a:xfrm>
            <a:off x="8668512" y="4224528"/>
            <a:ext cx="530352" cy="530352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4261104"/>
            <a:ext cx="457200" cy="45720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9308592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1A8"/>
                </a:solidFill>
              </a:rPr>
              <a:t>RAG</a:t>
            </a:r>
            <a:endParaRPr lang="en-US" sz="1500" dirty="0"/>
          </a:p>
        </p:txBody>
      </p:sp>
      <p:sp>
        <p:nvSpPr>
          <p:cNvPr id="43" name="Text 37"/>
          <p:cNvSpPr/>
          <p:nvPr/>
        </p:nvSpPr>
        <p:spPr>
          <a:xfrm>
            <a:off x="9308592" y="4553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Sorgu → Cevap Üretimi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5486400" y="6400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rgbClr val="8B8BAD"/>
                </a:solidFill>
              </a:rPr>
              <a:t>14 </a:t>
            </a:r>
            <a:r>
              <a:rPr lang="en-US" sz="1100" dirty="0" err="1">
                <a:solidFill>
                  <a:srgbClr val="8B8BAD"/>
                </a:solidFill>
              </a:rPr>
              <a:t>Mayıs</a:t>
            </a:r>
            <a:r>
              <a:rPr lang="en-US" sz="1100" dirty="0">
                <a:solidFill>
                  <a:srgbClr val="8B8BAD"/>
                </a:solidFill>
              </a:rPr>
              <a:t> 2026</a:t>
            </a:r>
            <a:endParaRPr lang="en-US" sz="1100" dirty="0"/>
          </a:p>
        </p:txBody>
      </p:sp>
      <p:sp>
        <p:nvSpPr>
          <p:cNvPr id="45" name="Metin kutusu 44">
            <a:extLst>
              <a:ext uri="{FF2B5EF4-FFF2-40B4-BE49-F238E27FC236}">
                <a16:creationId xmlns:a16="http://schemas.microsoft.com/office/drawing/2014/main" id="{14AB104C-0DE2-4F17-BF79-DDB6956DCAA2}"/>
              </a:ext>
            </a:extLst>
          </p:cNvPr>
          <p:cNvSpPr txBox="1"/>
          <p:nvPr/>
        </p:nvSpPr>
        <p:spPr>
          <a:xfrm>
            <a:off x="3385989" y="6380665"/>
            <a:ext cx="1559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CCFF"/>
                </a:solidFill>
              </a:rPr>
              <a:t>Gülsena Şişli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1A8"/>
                </a:solidFill>
              </a:rPr>
              <a:t>Sistem Mimarisi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C4A7A"/>
                </a:solidFill>
              </a:rPr>
              <a:t>Dört modüllü sıralı pipeline — her modülün çıktısı bir sonrakine </a:t>
            </a:r>
            <a:r>
              <a:rPr lang="en-US" sz="1300" i="1" dirty="0" err="1">
                <a:solidFill>
                  <a:srgbClr val="4C4A7A"/>
                </a:solidFill>
              </a:rPr>
              <a:t>girdi</a:t>
            </a:r>
            <a:r>
              <a:rPr lang="en-US" sz="1300" i="1" dirty="0">
                <a:solidFill>
                  <a:srgbClr val="4C4A7A"/>
                </a:solidFill>
              </a:rPr>
              <a:t> </a:t>
            </a:r>
            <a:r>
              <a:rPr lang="en-US" sz="1300" i="1" dirty="0" err="1">
                <a:solidFill>
                  <a:srgbClr val="4C4A7A"/>
                </a:solidFill>
              </a:rPr>
              <a:t>olur</a:t>
            </a:r>
            <a:r>
              <a:rPr lang="tr-TR" sz="1300" i="1" dirty="0">
                <a:solidFill>
                  <a:srgbClr val="4C4A7A"/>
                </a:solidFill>
              </a:rPr>
              <a:t>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26564" y="2478024"/>
            <a:ext cx="7735824" cy="7315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129284" y="1463040"/>
            <a:ext cx="219456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29284" y="1463040"/>
            <a:ext cx="21945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129284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DD6FE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9092" y="16642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820" y="1773936"/>
            <a:ext cx="466344" cy="4663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79092" y="1664208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820" y="1773936"/>
            <a:ext cx="466344" cy="4663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29284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21A8"/>
                </a:solidFill>
              </a:rPr>
              <a:t>OCR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239012" y="285292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4A7A"/>
                </a:solidFill>
              </a:rPr>
              <a:t>Görüntü → Metin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87852" y="2482596"/>
            <a:ext cx="1828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1"/>
          <p:cNvSpPr/>
          <p:nvPr/>
        </p:nvSpPr>
        <p:spPr>
          <a:xfrm>
            <a:off x="3424428" y="23865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</a:rPr>
              <a:t>›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707892" y="1463040"/>
            <a:ext cx="219456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3707892" y="1463040"/>
            <a:ext cx="21945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/>
          <p:nvPr/>
        </p:nvSpPr>
        <p:spPr>
          <a:xfrm>
            <a:off x="3707892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DD6FE"/>
                </a:solidFill>
              </a:rPr>
              <a:t>02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457700" y="16642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1773936"/>
            <a:ext cx="466344" cy="46634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457700" y="1664208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1773936"/>
            <a:ext cx="466344" cy="4663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707892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21A8"/>
                </a:solidFill>
              </a:rPr>
              <a:t>NER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3817620" y="285292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4A7A"/>
                </a:solidFill>
              </a:rPr>
              <a:t>Metin → Varlıklar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966460" y="2482596"/>
            <a:ext cx="1828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0"/>
          <p:cNvSpPr/>
          <p:nvPr/>
        </p:nvSpPr>
        <p:spPr>
          <a:xfrm>
            <a:off x="6003036" y="23865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</a:rPr>
              <a:t>›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6286500" y="1463040"/>
            <a:ext cx="219456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2"/>
          <p:cNvSpPr/>
          <p:nvPr/>
        </p:nvSpPr>
        <p:spPr>
          <a:xfrm>
            <a:off x="6286500" y="1463040"/>
            <a:ext cx="219456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3"/>
          <p:cNvSpPr/>
          <p:nvPr/>
        </p:nvSpPr>
        <p:spPr>
          <a:xfrm>
            <a:off x="628650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DD6FE"/>
                </a:solidFill>
              </a:rPr>
              <a:t>03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036308" y="16642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1773936"/>
            <a:ext cx="466344" cy="466344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7036308" y="1664208"/>
            <a:ext cx="685800" cy="6858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1773936"/>
            <a:ext cx="466344" cy="4663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8650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21A8"/>
                </a:solidFill>
              </a:rPr>
              <a:t>Duygu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6396228" y="285292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4A7A"/>
                </a:solidFill>
              </a:rPr>
              <a:t>Metni Sınıflandır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8545068" y="2482596"/>
            <a:ext cx="1828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29"/>
          <p:cNvSpPr/>
          <p:nvPr/>
        </p:nvSpPr>
        <p:spPr>
          <a:xfrm>
            <a:off x="8581644" y="23865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</a:rPr>
              <a:t>›</a:t>
            </a:r>
            <a:endParaRPr lang="en-US" sz="1800" dirty="0"/>
          </a:p>
        </p:txBody>
      </p:sp>
      <p:sp>
        <p:nvSpPr>
          <p:cNvPr id="38" name="Shape 30"/>
          <p:cNvSpPr/>
          <p:nvPr/>
        </p:nvSpPr>
        <p:spPr>
          <a:xfrm>
            <a:off x="8865108" y="1463040"/>
            <a:ext cx="219456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9" name="Shape 31"/>
          <p:cNvSpPr/>
          <p:nvPr/>
        </p:nvSpPr>
        <p:spPr>
          <a:xfrm>
            <a:off x="8865108" y="1463040"/>
            <a:ext cx="2194560" cy="411480"/>
          </a:xfrm>
          <a:prstGeom prst="rect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2"/>
          <p:cNvSpPr/>
          <p:nvPr/>
        </p:nvSpPr>
        <p:spPr>
          <a:xfrm>
            <a:off x="8865108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DD6FE"/>
                </a:solidFill>
              </a:rPr>
              <a:t>04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9614916" y="1664208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644" y="1773936"/>
            <a:ext cx="466344" cy="466344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9614916" y="1664208"/>
            <a:ext cx="685800" cy="685800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644" y="1773936"/>
            <a:ext cx="466344" cy="46634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8865108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21A8"/>
                </a:solidFill>
              </a:rPr>
              <a:t>RAG</a:t>
            </a:r>
            <a:endParaRPr lang="en-US" sz="1700" dirty="0"/>
          </a:p>
        </p:txBody>
      </p:sp>
      <p:sp>
        <p:nvSpPr>
          <p:cNvPr id="46" name="Text 36"/>
          <p:cNvSpPr/>
          <p:nvPr/>
        </p:nvSpPr>
        <p:spPr>
          <a:xfrm>
            <a:off x="8974836" y="285292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4A7A"/>
                </a:solidFill>
              </a:rPr>
              <a:t>Sorgu Yanıtla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548640" y="3822192"/>
            <a:ext cx="11091672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8" name="Text 38"/>
          <p:cNvSpPr/>
          <p:nvPr/>
        </p:nvSpPr>
        <p:spPr>
          <a:xfrm>
            <a:off x="731520" y="3904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PipelineState</a:t>
            </a:r>
            <a:endParaRPr lang="en-US" sz="1300" dirty="0"/>
          </a:p>
        </p:txBody>
      </p:sp>
      <p:sp>
        <p:nvSpPr>
          <p:cNvPr id="49" name="Text 39"/>
          <p:cNvSpPr/>
          <p:nvPr/>
        </p:nvSpPr>
        <p:spPr>
          <a:xfrm>
            <a:off x="731520" y="422452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C4A7A"/>
                </a:solidFill>
              </a:rPr>
              <a:t>Tüm modüller arasındaki veri aktarımı merkezi bir PipelineState nesnesi üzerinden gerçekleşir. Bu nesne: ham_text · ocr_confidence · entities · sentiment · rag_answers alanlarını taşır.</a:t>
            </a:r>
            <a:endParaRPr lang="en-US" sz="1100" dirty="0"/>
          </a:p>
        </p:txBody>
      </p:sp>
      <p:sp>
        <p:nvSpPr>
          <p:cNvPr id="50" name="Text 40"/>
          <p:cNvSpPr/>
          <p:nvPr/>
        </p:nvSpPr>
        <p:spPr>
          <a:xfrm>
            <a:off x="548640" y="4937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1A8"/>
                </a:solidFill>
              </a:rPr>
              <a:t>Ortak Altyapı:</a:t>
            </a:r>
            <a:endParaRPr lang="en-US" sz="1100" dirty="0"/>
          </a:p>
        </p:txBody>
      </p:sp>
      <p:sp>
        <p:nvSpPr>
          <p:cNvPr id="51" name="Shape 41"/>
          <p:cNvSpPr/>
          <p:nvPr/>
        </p:nvSpPr>
        <p:spPr>
          <a:xfrm>
            <a:off x="2423160" y="4937760"/>
            <a:ext cx="795528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42"/>
          <p:cNvSpPr/>
          <p:nvPr/>
        </p:nvSpPr>
        <p:spPr>
          <a:xfrm>
            <a:off x="2487168" y="4937760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Logger</a:t>
            </a:r>
            <a:endParaRPr lang="en-US" sz="950" dirty="0"/>
          </a:p>
        </p:txBody>
      </p:sp>
      <p:sp>
        <p:nvSpPr>
          <p:cNvPr id="53" name="Shape 43"/>
          <p:cNvSpPr/>
          <p:nvPr/>
        </p:nvSpPr>
        <p:spPr>
          <a:xfrm>
            <a:off x="3931920" y="493776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44"/>
          <p:cNvSpPr/>
          <p:nvPr/>
        </p:nvSpPr>
        <p:spPr>
          <a:xfrm>
            <a:off x="3995928" y="493776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RAM İzleme</a:t>
            </a:r>
            <a:endParaRPr lang="en-US" sz="950" dirty="0"/>
          </a:p>
        </p:txBody>
      </p:sp>
      <p:sp>
        <p:nvSpPr>
          <p:cNvPr id="55" name="Shape 45"/>
          <p:cNvSpPr/>
          <p:nvPr/>
        </p:nvSpPr>
        <p:spPr>
          <a:xfrm>
            <a:off x="5440680" y="493776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46"/>
          <p:cNvSpPr/>
          <p:nvPr/>
        </p:nvSpPr>
        <p:spPr>
          <a:xfrm>
            <a:off x="5504688" y="493776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Measure CM</a:t>
            </a:r>
            <a:endParaRPr lang="en-US" sz="950" dirty="0"/>
          </a:p>
        </p:txBody>
      </p:sp>
      <p:sp>
        <p:nvSpPr>
          <p:cNvPr id="57" name="Shape 47"/>
          <p:cNvSpPr/>
          <p:nvPr/>
        </p:nvSpPr>
        <p:spPr>
          <a:xfrm>
            <a:off x="6949440" y="4937760"/>
            <a:ext cx="1316736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48"/>
          <p:cNvSpPr/>
          <p:nvPr/>
        </p:nvSpPr>
        <p:spPr>
          <a:xfrm>
            <a:off x="7013448" y="4937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ModuleMetric</a:t>
            </a:r>
            <a:endParaRPr lang="en-US" sz="950" dirty="0"/>
          </a:p>
        </p:txBody>
      </p:sp>
      <p:sp>
        <p:nvSpPr>
          <p:cNvPr id="59" name="Shape 49"/>
          <p:cNvSpPr/>
          <p:nvPr/>
        </p:nvSpPr>
        <p:spPr>
          <a:xfrm>
            <a:off x="8458200" y="493776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0"/>
          <p:cNvSpPr/>
          <p:nvPr/>
        </p:nvSpPr>
        <p:spPr>
          <a:xfrm>
            <a:off x="8522208" y="493776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JSON Rapor</a:t>
            </a:r>
            <a:endParaRPr lang="en-US" sz="950" dirty="0"/>
          </a:p>
        </p:txBody>
      </p:sp>
      <p:sp>
        <p:nvSpPr>
          <p:cNvPr id="61" name="Shape 51"/>
          <p:cNvSpPr/>
          <p:nvPr/>
        </p:nvSpPr>
        <p:spPr>
          <a:xfrm>
            <a:off x="9966960" y="4937760"/>
            <a:ext cx="1056132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52"/>
          <p:cNvSpPr/>
          <p:nvPr/>
        </p:nvSpPr>
        <p:spPr>
          <a:xfrm>
            <a:off x="10030968" y="4937760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Gradio UI</a:t>
            </a:r>
            <a:endParaRPr lang="en-US" sz="950" dirty="0"/>
          </a:p>
        </p:txBody>
      </p:sp>
      <p:sp>
        <p:nvSpPr>
          <p:cNvPr id="63" name="Text 53"/>
          <p:cNvSpPr/>
          <p:nvPr/>
        </p:nvSpPr>
        <p:spPr>
          <a:xfrm>
            <a:off x="548640" y="5440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BAD"/>
                </a:solidFill>
              </a:rPr>
              <a:t>/content/pipeline/{logs, images, output, metrics}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448056" y="4882896"/>
            <a:ext cx="2286000" cy="2286000"/>
          </a:xfrm>
          <a:prstGeom prst="ellipse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00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347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 — OCR Modülü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0040" y="1051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Optik Karakter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Tanıma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20040" y="2194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DD6FE"/>
                </a:solidFill>
              </a:rPr>
              <a:t>Türkçe belgeler için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DD6FE"/>
                </a:solidFill>
              </a:rPr>
              <a:t>7 aşamalı preprocessing + CER/WER ölçümü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0040" y="3200400"/>
            <a:ext cx="3383280" cy="914400"/>
          </a:xfrm>
          <a:prstGeom prst="rect">
            <a:avLst/>
          </a:prstGeom>
          <a:solidFill>
            <a:srgbClr val="7C3AED">
              <a:alpha val="80000"/>
            </a:srgbClr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41148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D6FE"/>
                </a:solidFill>
              </a:rPr>
              <a:t>Tesseract Ayarları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35661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--psm 6  --oem 3  -l tur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preserve_interword_spaces=1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4343400"/>
            <a:ext cx="1554480" cy="100584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320040" y="4416552"/>
            <a:ext cx="15544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4B5FD"/>
                </a:solidFill>
              </a:rPr>
              <a:t>CER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20040" y="48966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4A7A"/>
                </a:solidFill>
              </a:rPr>
              <a:t>Karakter Hata Oranı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103120" y="4343400"/>
            <a:ext cx="1554480" cy="100584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2103120" y="4416552"/>
            <a:ext cx="15544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4B5FD"/>
                </a:solidFill>
              </a:rPr>
              <a:t>WER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2103120" y="48966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4A7A"/>
                </a:solidFill>
              </a:rPr>
              <a:t>Kelime Hata Oranı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297680" y="228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21A8"/>
                </a:solidFill>
              </a:rPr>
              <a:t>7 Aşamalı Preprocessing Pipeline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297680" y="89611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4297680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Gri Dönüşüm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54880" y="11430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cvtColor(BGR2GRAY) — Renk kanalı gereksiz; tek kanal yeterli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453128" y="1243584"/>
            <a:ext cx="36576" cy="3291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0"/>
          <p:cNvSpPr/>
          <p:nvPr/>
        </p:nvSpPr>
        <p:spPr>
          <a:xfrm>
            <a:off x="4297680" y="159105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/>
          <p:nvPr/>
        </p:nvSpPr>
        <p:spPr>
          <a:xfrm>
            <a:off x="4297680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54880" y="1563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Gürültü Azaltma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54880" y="183794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GaussianBlur(3×3) + medianBlur(3) — Yüksek frekanslı gürültüyü temizler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53128" y="1938528"/>
            <a:ext cx="36576" cy="3291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5"/>
          <p:cNvSpPr/>
          <p:nvPr/>
        </p:nvSpPr>
        <p:spPr>
          <a:xfrm>
            <a:off x="4297680" y="228600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6"/>
          <p:cNvSpPr/>
          <p:nvPr/>
        </p:nvSpPr>
        <p:spPr>
          <a:xfrm>
            <a:off x="429768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54880" y="2258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CLAHE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754880" y="25328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clipLimit=2, tileGrid=8×8 — Lokal kontrast iyileştirme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453128" y="2633472"/>
            <a:ext cx="36576" cy="3291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0"/>
          <p:cNvSpPr/>
          <p:nvPr/>
        </p:nvSpPr>
        <p:spPr>
          <a:xfrm>
            <a:off x="4297680" y="2980944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429768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75488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Adaptive Threshold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754880" y="32278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GAUSSIAN_C, blockSize=15, C=8 — Aydınlatma farklarına dayanıklı ikileştirme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453128" y="3328416"/>
            <a:ext cx="36576" cy="3291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5"/>
          <p:cNvSpPr/>
          <p:nvPr/>
        </p:nvSpPr>
        <p:spPr>
          <a:xfrm>
            <a:off x="4297680" y="3675888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6"/>
          <p:cNvSpPr/>
          <p:nvPr/>
        </p:nvSpPr>
        <p:spPr>
          <a:xfrm>
            <a:off x="429768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754880" y="3648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Morfoloji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754880" y="39227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OPEN(2×2) + DILATE(1×1) — Gürültü noktaları silinir, harfler pekişir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453128" y="4023360"/>
            <a:ext cx="36576" cy="3291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0"/>
          <p:cNvSpPr/>
          <p:nvPr/>
        </p:nvSpPr>
        <p:spPr>
          <a:xfrm>
            <a:off x="4297680" y="4370832"/>
            <a:ext cx="347472" cy="3474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1"/>
          <p:cNvSpPr/>
          <p:nvPr/>
        </p:nvSpPr>
        <p:spPr>
          <a:xfrm>
            <a:off x="429768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75488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33EA"/>
                </a:solidFill>
              </a:rPr>
              <a:t>Deskew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754880" y="46177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minAreaRect → RotationMatrix — ≥0.5° sapmayı CUBIC interpolasyon ile düzeltir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453128" y="4718304"/>
            <a:ext cx="36576" cy="3291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5"/>
          <p:cNvSpPr/>
          <p:nvPr/>
        </p:nvSpPr>
        <p:spPr>
          <a:xfrm>
            <a:off x="4297680" y="5065776"/>
            <a:ext cx="347472" cy="347472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6"/>
          <p:cNvSpPr/>
          <p:nvPr/>
        </p:nvSpPr>
        <p:spPr>
          <a:xfrm>
            <a:off x="4297680" y="506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754880" y="5038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21CAF"/>
                </a:solidFill>
              </a:rPr>
              <a:t>Upscale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754880" y="53126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w&lt;1200px → INTER_CUBIC — ~300 DPI eşdeğerine çeker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21A8"/>
                </a:solidFill>
              </a:rPr>
              <a:t>02 — Adlandırılmış Varlık Tanıma (NER)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C4A7A"/>
                </a:solidFill>
              </a:rPr>
              <a:t>Saf regex tabanlı </a:t>
            </a:r>
            <a:r>
              <a:rPr lang="en-US" sz="1300" i="1" dirty="0" err="1">
                <a:solidFill>
                  <a:srgbClr val="4C4A7A"/>
                </a:solidFill>
              </a:rPr>
              <a:t>hibrit</a:t>
            </a:r>
            <a:r>
              <a:rPr lang="en-US" sz="1300" i="1" dirty="0">
                <a:solidFill>
                  <a:srgbClr val="4C4A7A"/>
                </a:solidFill>
              </a:rPr>
              <a:t> </a:t>
            </a:r>
            <a:r>
              <a:rPr lang="en-US" sz="1300" i="1" dirty="0" err="1">
                <a:solidFill>
                  <a:srgbClr val="4C4A7A"/>
                </a:solidFill>
              </a:rPr>
              <a:t>yaklaşım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Desteklenen Varlık Kategorileri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47548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400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PER — Kişi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97510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Büyük harfli ad + soyad kalıbı (Unicode destekli)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120640" cy="47548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00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49808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LOC — 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56946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81 Türk şehri + ülke listesi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120640" cy="475488"/>
          </a:xfrm>
          <a:prstGeom prst="rect">
            <a:avLst/>
          </a:prstGeom>
          <a:solidFill>
            <a:srgbClr val="EDE9FE"/>
          </a:solidFill>
          <a:ln w="1524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64008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49808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ORG — Kuruluş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16382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TÜBİTAK, TBMM, THY... + üniversite &amp; bakanlık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120640" cy="475488"/>
          </a:xfrm>
          <a:prstGeom prst="rect">
            <a:avLst/>
          </a:prstGeom>
          <a:solidFill>
            <a:srgbClr val="EDE9FE"/>
          </a:solidFill>
          <a:ln w="1524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64008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749808" y="3566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DATE — Tarih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75818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12 Ocak 2024 / 4 haneli yıl / 24 ay, 3 yıl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5120640" cy="475488"/>
          </a:xfrm>
          <a:prstGeom prst="rect">
            <a:avLst/>
          </a:prstGeom>
          <a:solidFill>
            <a:srgbClr val="EDE9FE"/>
          </a:solidFill>
          <a:ln w="15240">
            <a:solidFill>
              <a:srgbClr val="9333E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64008" cy="4754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49808" y="4160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33EA"/>
                </a:solidFill>
              </a:rPr>
              <a:t>MONEY — Para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435254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3,2 milyar TL / $500M / €1.2M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5120640" cy="475488"/>
          </a:xfrm>
          <a:prstGeom prst="rect">
            <a:avLst/>
          </a:prstGeom>
          <a:solidFill>
            <a:srgbClr val="EDE9FE"/>
          </a:solidFill>
          <a:ln w="15240">
            <a:solidFill>
              <a:srgbClr val="A21CA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64008" cy="475488"/>
          </a:xfrm>
          <a:prstGeom prst="rect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749808" y="4754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1CAF"/>
                </a:solidFill>
              </a:rPr>
              <a:t>PERCENT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494690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% öneki ile sayısal ifade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5120640" cy="475488"/>
          </a:xfrm>
          <a:prstGeom prst="rect">
            <a:avLst/>
          </a:prstGeom>
          <a:solidFill>
            <a:srgbClr val="EDE9FE"/>
          </a:solidFill>
          <a:ln w="15240">
            <a:solidFill>
              <a:srgbClr val="C026D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548640" y="5303520"/>
            <a:ext cx="64008" cy="475488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749808" y="5349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26D3"/>
                </a:solidFill>
              </a:rPr>
              <a:t>CARDINAL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554126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2.847.391 / 8,5 milyon birim sayılar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1280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Değerlendirme Metrikleri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26480" y="1737360"/>
            <a:ext cx="5760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309360" y="17922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Precision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01000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(TP+FP)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20665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Bulunan varlıkların doğruluk oranı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2487168"/>
            <a:ext cx="5760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309360" y="2542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Recall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0100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(TP+FN)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28163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Gerçek varlıkların yakalanma oranı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3236976"/>
            <a:ext cx="5760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6309360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F1 Skoru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0100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2·P·R / (P+R)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3566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Harmonik ortalama; dengesiz veri için tercih edilir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3986784"/>
            <a:ext cx="5760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630936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Makro F1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0100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Belge bazı ortalaması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9360" y="43159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Her belgeye eşit ağırlık verir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4736592"/>
            <a:ext cx="5760720" cy="1005840"/>
          </a:xfrm>
          <a:prstGeom prst="rect">
            <a:avLst/>
          </a:prstGeom>
          <a:solidFill>
            <a:srgbClr val="EDE9FE"/>
          </a:solidFill>
          <a:ln w="1524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630936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</a:rPr>
              <a:t>Çakışma Çözümü — Greedy (En Uzun Span Öncelikli)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309360" y="51206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Farklı desenler aynı metin aralığını yakaladığında, kapsam uzunluğuna göre büyükten küçüğe sıralama yapılır ve örtüşen kısa varlıklar elenir. Bu yaklaşım yanlış pozitif sayısını minimize eder.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5806440"/>
            <a:ext cx="11640312" cy="621792"/>
          </a:xfrm>
          <a:prstGeom prst="rect">
            <a:avLst/>
          </a:prstGeom>
          <a:solidFill>
            <a:srgbClr val="DDD6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731520" y="5870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1A8"/>
                </a:solidFill>
              </a:rPr>
              <a:t>Ground Truth: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651760" y="587044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4A7A"/>
                </a:solidFill>
              </a:rPr>
              <a:t>Aynı regex motoru referans Wikipedia metinleri üzerinde çalıştırılarak otomatik ground truth üretilmektedir — manuel etiketleme gerektirmez.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817352" y="-457200"/>
            <a:ext cx="2011680" cy="2011680"/>
          </a:xfrm>
          <a:prstGeom prst="ellipse">
            <a:avLst/>
          </a:prstGeom>
          <a:solidFill>
            <a:srgbClr val="A855F7">
              <a:alpha val="4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82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 — Duygu Analizi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7280" y="5669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6FE"/>
                </a:solidFill>
              </a:rPr>
              <a:t>Türkçe BERT Modeli ile Sınıflandırma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03920" y="457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503920" y="5120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</a:rPr>
              <a:t>Sınıf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</a:rPr>
              <a:t>Pos/Neg/Nötr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738360" y="457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8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738360" y="5120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</a:rPr>
              <a:t>Batch Size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</a:rPr>
              <a:t>CPU optimize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972800" y="457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512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972800" y="5120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</a:rPr>
              <a:t>Max Token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DD6FE"/>
                </a:solidFill>
              </a:rPr>
              <a:t>Otomatik chunk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8640" y="1234440"/>
            <a:ext cx="5303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731520" y="13898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1A8"/>
                </a:solidFill>
              </a:rPr>
              <a:t>Model Detayları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Model Adı: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423160" y="1828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savasy/bert-base-turkish-sentiment-cased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2212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Mimari: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423160" y="22128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BERT (Bidirectional Encoder Representations)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25968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Donanım: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423160" y="25968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CPU — torch.no_grad() + batch_size=8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29809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Chunk: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423160" y="29809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Cümle sınırından ~400 token'da bölme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520" y="33649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Birleştirme: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423160" y="3364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Uzunluk orantılı ağırlıklı ortalama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315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Label Norm: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42316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LABEL_0/1/2 → negative/positive/neutral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26480" y="1234440"/>
            <a:ext cx="5760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5"/>
          <p:cNvSpPr/>
          <p:nvPr/>
        </p:nvSpPr>
        <p:spPr>
          <a:xfrm>
            <a:off x="6309360" y="13898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1A8"/>
                </a:solidFill>
              </a:rPr>
              <a:t>Değerlendirme Metrikleri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263640" y="1901952"/>
            <a:ext cx="5440680" cy="438912"/>
          </a:xfrm>
          <a:prstGeom prst="rect">
            <a:avLst/>
          </a:prstGeom>
          <a:solidFill>
            <a:srgbClr val="EDE9FE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7"/>
          <p:cNvSpPr/>
          <p:nvPr/>
        </p:nvSpPr>
        <p:spPr>
          <a:xfrm>
            <a:off x="6400800" y="19568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Accuracy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138160" y="19568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→ Genel başarı oranı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00800" y="213969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BAD"/>
                </a:solidFill>
              </a:rPr>
              <a:t>Toplam doğru / Toplam örnek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263640" y="2450592"/>
            <a:ext cx="5440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6400800" y="2505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F1 Macro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138160" y="25054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→ Az örnekli sınıflara duyarlı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0" y="268833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BAD"/>
                </a:solidFill>
              </a:rPr>
              <a:t>Sınıf F1 ortalaması (eşit ağırlık)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263640" y="2999232"/>
            <a:ext cx="5440680" cy="438912"/>
          </a:xfrm>
          <a:prstGeom prst="rect">
            <a:avLst/>
          </a:prstGeom>
          <a:solidFill>
            <a:srgbClr val="EDE9FE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5"/>
          <p:cNvSpPr/>
          <p:nvPr/>
        </p:nvSpPr>
        <p:spPr>
          <a:xfrm>
            <a:off x="6400800" y="30540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F1 Weighted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138160" y="30540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→ Veri dağılımını yansıtır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400800" y="323697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BAD"/>
                </a:solidFill>
              </a:rPr>
              <a:t>Örnek sayısına göre ağırlıklı F1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263640" y="3547872"/>
            <a:ext cx="54406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39"/>
          <p:cNvSpPr/>
          <p:nvPr/>
        </p:nvSpPr>
        <p:spPr>
          <a:xfrm>
            <a:off x="6400800" y="36027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138160" y="3602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→ Sınıf karışımlarını ortaya çıkarır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400800" y="378561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8BAD"/>
                </a:solidFill>
              </a:rPr>
              <a:t>3×3 gerçek × tahmin matrisi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48640" y="4572000"/>
            <a:ext cx="11640312" cy="1783080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6" name="Text 43"/>
          <p:cNvSpPr/>
          <p:nvPr/>
        </p:nvSpPr>
        <p:spPr>
          <a:xfrm>
            <a:off x="7315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1A8"/>
                </a:solidFill>
              </a:rPr>
              <a:t>Değerlendirme Veri Seti — 18 Etiketli Türkçe Cümle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731520" y="5102352"/>
            <a:ext cx="36576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8" name="Text 45"/>
          <p:cNvSpPr/>
          <p:nvPr/>
        </p:nvSpPr>
        <p:spPr>
          <a:xfrm>
            <a:off x="822960" y="51755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😊 Pozitif (6)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22960" y="546811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C4A7A"/>
                </a:solidFill>
              </a:rPr>
              <a:t>"Türkiye ekonomisi güçlü büyüme gösteriyor"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572000" y="5102352"/>
            <a:ext cx="36576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1" name="Text 48"/>
          <p:cNvSpPr/>
          <p:nvPr/>
        </p:nvSpPr>
        <p:spPr>
          <a:xfrm>
            <a:off x="4663440" y="51755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</a:rPr>
              <a:t>😞 Negatif (6)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4663440" y="546811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C4A7A"/>
                </a:solidFill>
              </a:rPr>
              <a:t>"Enflasyon yaşam maliyetini giderek artırıyor"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8412480" y="5102352"/>
            <a:ext cx="36576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4" name="Text 51"/>
          <p:cNvSpPr/>
          <p:nvPr/>
        </p:nvSpPr>
        <p:spPr>
          <a:xfrm>
            <a:off x="8503920" y="51755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8BAD"/>
                </a:solidFill>
              </a:rPr>
              <a:t>😐 Nötr (6)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503920" y="546811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C4A7A"/>
                </a:solidFill>
              </a:rPr>
              <a:t>"Toplantı saat 14:00'te başlayacak"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200400" y="5029200"/>
            <a:ext cx="2011680" cy="2011680"/>
          </a:xfrm>
          <a:prstGeom prst="ellipse">
            <a:avLst/>
          </a:prstGeom>
          <a:solidFill>
            <a:srgbClr val="A855F7">
              <a:alpha val="3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017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 — RAG Modülü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0040" y="1005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Retrieval-Augmented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Generation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2148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4B5FD"/>
                </a:solidFill>
              </a:rPr>
              <a:t>Bilgi tabanından ilgili parçaları getirerek soruları yanıtlar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292608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296265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D6FE"/>
                </a:solidFill>
              </a:rPr>
              <a:t>Embedding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6868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BAD"/>
                </a:solidFill>
              </a:rPr>
              <a:t>MiniLM-L12-v2 · 384 dim · 50+ dil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3803904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" y="384048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758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D6FE"/>
                </a:solidFill>
              </a:rPr>
              <a:t>Chunking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6868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BAD"/>
                </a:solidFill>
              </a:rPr>
              <a:t>RecursiveChunker · max=400 · overlap=60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20040" y="468172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" y="4718304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4636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D6FE"/>
                </a:solidFill>
              </a:rPr>
              <a:t>FAISS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68680" y="48828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BAD"/>
                </a:solidFill>
              </a:rPr>
              <a:t>IndexFlatIP · kosinüs benzerliği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0040" y="555955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" y="559612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5513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DD6FE"/>
                </a:solidFill>
              </a:rPr>
              <a:t>Retrieval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68680" y="5760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8BAD"/>
                </a:solidFill>
              </a:rPr>
              <a:t>Top-K chunk · skor tabanlı sıralama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029200" y="2560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21A8"/>
                </a:solidFill>
              </a:rPr>
              <a:t>Pipeline Adımları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5029200" y="822960"/>
            <a:ext cx="6903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5029200" y="822960"/>
            <a:ext cx="457200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1"/>
          <p:cNvSpPr/>
          <p:nvPr/>
        </p:nvSpPr>
        <p:spPr>
          <a:xfrm>
            <a:off x="5029200" y="8229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577840" y="89611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Belge Yükleme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577840" y="1170432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5 el yazısı belge + OCR çıktıları → FULL_KB oluşturulur (9+ belge)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029200" y="1737360"/>
            <a:ext cx="6903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5"/>
          <p:cNvSpPr/>
          <p:nvPr/>
        </p:nvSpPr>
        <p:spPr>
          <a:xfrm>
            <a:off x="5029200" y="1737360"/>
            <a:ext cx="457200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26"/>
          <p:cNvSpPr/>
          <p:nvPr/>
        </p:nvSpPr>
        <p:spPr>
          <a:xfrm>
            <a:off x="5029200" y="17373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577840" y="181051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Recursive Chunking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577840" y="2084832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Paragraf → Cümle hiyerarşisi; 60 karakter overlap ile bağlam korunur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029200" y="2651760"/>
            <a:ext cx="6903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7" name="Shape 30"/>
          <p:cNvSpPr/>
          <p:nvPr/>
        </p:nvSpPr>
        <p:spPr>
          <a:xfrm>
            <a:off x="5029200" y="2651760"/>
            <a:ext cx="457200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1"/>
          <p:cNvSpPr/>
          <p:nvPr/>
        </p:nvSpPr>
        <p:spPr>
          <a:xfrm>
            <a:off x="5029200" y="26517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5577840" y="272491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Embedding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5577840" y="2999232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Her chunk 384-dim normalize vektöre dönüştürülür; L2 norm uygulanır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029200" y="3566160"/>
            <a:ext cx="6903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35"/>
          <p:cNvSpPr/>
          <p:nvPr/>
        </p:nvSpPr>
        <p:spPr>
          <a:xfrm>
            <a:off x="5029200" y="3566160"/>
            <a:ext cx="457200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36"/>
          <p:cNvSpPr/>
          <p:nvPr/>
        </p:nvSpPr>
        <p:spPr>
          <a:xfrm>
            <a:off x="5029200" y="35661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5577840" y="363931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FAISS İndeksleme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5577840" y="3913632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IndexFlatIP: normalize × iç çarpım = kosinüs benzerliği; kesin arama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029200" y="4480560"/>
            <a:ext cx="6903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7" name="Shape 40"/>
          <p:cNvSpPr/>
          <p:nvPr/>
        </p:nvSpPr>
        <p:spPr>
          <a:xfrm>
            <a:off x="5029200" y="4480560"/>
            <a:ext cx="457200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1"/>
          <p:cNvSpPr/>
          <p:nvPr/>
        </p:nvSpPr>
        <p:spPr>
          <a:xfrm>
            <a:off x="5029200" y="44805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5577840" y="455371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Sorgu İşleme</a:t>
            </a:r>
            <a:endParaRPr lang="en-US" sz="1200" dirty="0"/>
          </a:p>
        </p:txBody>
      </p:sp>
      <p:sp>
        <p:nvSpPr>
          <p:cNvPr id="50" name="Text 43"/>
          <p:cNvSpPr/>
          <p:nvPr/>
        </p:nvSpPr>
        <p:spPr>
          <a:xfrm>
            <a:off x="5577840" y="4828032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Sorgu embedding'i → FAISS search(top-k) → skor + doc_id döner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5029200" y="5394960"/>
            <a:ext cx="6903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2" name="Shape 45"/>
          <p:cNvSpPr/>
          <p:nvPr/>
        </p:nvSpPr>
        <p:spPr>
          <a:xfrm>
            <a:off x="5029200" y="5394960"/>
            <a:ext cx="457200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46"/>
          <p:cNvSpPr/>
          <p:nvPr/>
        </p:nvSpPr>
        <p:spPr>
          <a:xfrm>
            <a:off x="5029200" y="53949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54" name="Text 47"/>
          <p:cNvSpPr/>
          <p:nvPr/>
        </p:nvSpPr>
        <p:spPr>
          <a:xfrm>
            <a:off x="5577840" y="546811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Extractive Cevap</a:t>
            </a:r>
            <a:endParaRPr lang="en-US" sz="1200" dirty="0"/>
          </a:p>
        </p:txBody>
      </p:sp>
      <p:sp>
        <p:nvSpPr>
          <p:cNvPr id="55" name="Text 48"/>
          <p:cNvSpPr/>
          <p:nvPr/>
        </p:nvSpPr>
        <p:spPr>
          <a:xfrm>
            <a:off x="5577840" y="5742432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En iyi chunk'lardan sorgu kelimesiyle örtüşen cümleler seçilir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21A8"/>
                </a:solidFill>
              </a:rPr>
              <a:t>Değerlendirme &amp; Benchmark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C4A7A"/>
                </a:solidFill>
              </a:rPr>
              <a:t>Her modül ayrı akademik metrikle ölçülür — sonuçlar JSON rapora ve dashboarda aktarılır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7889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384048" cy="38404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4630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4081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OCR Metrikleri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1993392"/>
            <a:ext cx="2514600" cy="54864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658368" y="20574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CER — Karakter Hata Oranı (edit dist / ref chars)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" y="2651760"/>
            <a:ext cx="2514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658368" y="27157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WER — Kelime Hata Oranı (edit dist / ref words)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3310128"/>
            <a:ext cx="2514600" cy="54864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658368" y="33741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Tesseract Güven Skoru — image_to_data() ortalaması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4360" y="3968496"/>
            <a:ext cx="2514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658368" y="40325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0 → mükemmel · 1 → tüm içerik yanlış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383280" y="132588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3383280" y="1325880"/>
            <a:ext cx="27889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6"/>
          <p:cNvSpPr/>
          <p:nvPr/>
        </p:nvSpPr>
        <p:spPr>
          <a:xfrm>
            <a:off x="3493008" y="1426464"/>
            <a:ext cx="384048" cy="38404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463040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77640" y="14081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NER Metrikleri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520440" y="1993392"/>
            <a:ext cx="2514600" cy="54864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19"/>
          <p:cNvSpPr/>
          <p:nvPr/>
        </p:nvSpPr>
        <p:spPr>
          <a:xfrm>
            <a:off x="3584448" y="20574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Precision = TP / (TP+FP)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520440" y="2651760"/>
            <a:ext cx="2514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1"/>
          <p:cNvSpPr/>
          <p:nvPr/>
        </p:nvSpPr>
        <p:spPr>
          <a:xfrm>
            <a:off x="3584448" y="27157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Recall = TP / (TP+FN)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520440" y="3310128"/>
            <a:ext cx="2514600" cy="54864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3"/>
          <p:cNvSpPr/>
          <p:nvPr/>
        </p:nvSpPr>
        <p:spPr>
          <a:xfrm>
            <a:off x="3584448" y="33741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F1 = 2·P·R / (P+R)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520440" y="3968496"/>
            <a:ext cx="2514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5"/>
          <p:cNvSpPr/>
          <p:nvPr/>
        </p:nvSpPr>
        <p:spPr>
          <a:xfrm>
            <a:off x="3584448" y="40325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Makro: belge bazı aritmetik ortalama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309360" y="132588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7"/>
          <p:cNvSpPr/>
          <p:nvPr/>
        </p:nvSpPr>
        <p:spPr>
          <a:xfrm>
            <a:off x="6309360" y="1325880"/>
            <a:ext cx="2788920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28"/>
          <p:cNvSpPr/>
          <p:nvPr/>
        </p:nvSpPr>
        <p:spPr>
          <a:xfrm>
            <a:off x="6419088" y="1426464"/>
            <a:ext cx="384048" cy="38404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463040"/>
            <a:ext cx="310896" cy="31089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903720" y="14081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Duygu Metrikleri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446520" y="1993392"/>
            <a:ext cx="2514600" cy="54864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1"/>
          <p:cNvSpPr/>
          <p:nvPr/>
        </p:nvSpPr>
        <p:spPr>
          <a:xfrm>
            <a:off x="6510528" y="20574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Accuracy (18 örneklik test seti)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446520" y="2651760"/>
            <a:ext cx="2514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3"/>
          <p:cNvSpPr/>
          <p:nvPr/>
        </p:nvSpPr>
        <p:spPr>
          <a:xfrm>
            <a:off x="6510528" y="27157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F1 Macro — sınıf eşit ağırlıklı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6446520" y="3310128"/>
            <a:ext cx="2514600" cy="54864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5"/>
          <p:cNvSpPr/>
          <p:nvPr/>
        </p:nvSpPr>
        <p:spPr>
          <a:xfrm>
            <a:off x="6510528" y="33741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F1 Weighted — örnek sayısı ağırlıklı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446520" y="3968496"/>
            <a:ext cx="2514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37"/>
          <p:cNvSpPr/>
          <p:nvPr/>
        </p:nvSpPr>
        <p:spPr>
          <a:xfrm>
            <a:off x="6510528" y="40325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Confusion Matrix 3×3 (Pos/Neg/Nötr)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9235440" y="132588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4" name="Shape 39"/>
          <p:cNvSpPr/>
          <p:nvPr/>
        </p:nvSpPr>
        <p:spPr>
          <a:xfrm>
            <a:off x="9235440" y="1325880"/>
            <a:ext cx="2788920" cy="566928"/>
          </a:xfrm>
          <a:prstGeom prst="rect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0"/>
          <p:cNvSpPr/>
          <p:nvPr/>
        </p:nvSpPr>
        <p:spPr>
          <a:xfrm>
            <a:off x="9345168" y="1426464"/>
            <a:ext cx="384048" cy="38404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744" y="1463040"/>
            <a:ext cx="310896" cy="310896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9829800" y="14081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 Metrikleri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9372600" y="1993392"/>
            <a:ext cx="2514600" cy="54864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3"/>
          <p:cNvSpPr/>
          <p:nvPr/>
        </p:nvSpPr>
        <p:spPr>
          <a:xfrm>
            <a:off x="9436608" y="20574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MRR — Mean Reciprocal Rank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9372600" y="2651760"/>
            <a:ext cx="2514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5"/>
          <p:cNvSpPr/>
          <p:nvPr/>
        </p:nvSpPr>
        <p:spPr>
          <a:xfrm>
            <a:off x="9436608" y="27157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Hit@K — İlk K'da doğru chunk oranı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9372600" y="3310128"/>
            <a:ext cx="2514600" cy="54864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47"/>
          <p:cNvSpPr/>
          <p:nvPr/>
        </p:nvSpPr>
        <p:spPr>
          <a:xfrm>
            <a:off x="9436608" y="33741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60 soruluk Türkçe benchmark seti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9372600" y="3968496"/>
            <a:ext cx="2514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49"/>
          <p:cNvSpPr/>
          <p:nvPr/>
        </p:nvSpPr>
        <p:spPr>
          <a:xfrm>
            <a:off x="9436608" y="40325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Anahtar kelime eşleşme tabanlı değerlendirme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457200" y="5120640"/>
            <a:ext cx="11274552" cy="13258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7" name="Shape 51"/>
          <p:cNvSpPr/>
          <p:nvPr/>
        </p:nvSpPr>
        <p:spPr>
          <a:xfrm>
            <a:off x="10799063" y="4937760"/>
            <a:ext cx="2197269" cy="2258568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2"/>
          <p:cNvSpPr/>
          <p:nvPr/>
        </p:nvSpPr>
        <p:spPr>
          <a:xfrm>
            <a:off x="731520" y="52303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Akademik Dashboard — 8 Panel</a:t>
            </a:r>
            <a:endParaRPr lang="en-US" sz="1500" dirty="0"/>
          </a:p>
        </p:txBody>
      </p:sp>
      <p:sp>
        <p:nvSpPr>
          <p:cNvPr id="59" name="Shape 53"/>
          <p:cNvSpPr/>
          <p:nvPr/>
        </p:nvSpPr>
        <p:spPr>
          <a:xfrm>
            <a:off x="731520" y="5687568"/>
            <a:ext cx="2514600" cy="310896"/>
          </a:xfrm>
          <a:prstGeom prst="rect">
            <a:avLst/>
          </a:prstGeom>
          <a:solidFill>
            <a:srgbClr val="7C3AED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4"/>
          <p:cNvSpPr/>
          <p:nvPr/>
        </p:nvSpPr>
        <p:spPr>
          <a:xfrm>
            <a:off x="804672" y="57332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6FE"/>
                </a:solidFill>
              </a:rPr>
              <a:t>1. Modül Süreleri</a:t>
            </a:r>
            <a:endParaRPr lang="en-US" sz="950" dirty="0"/>
          </a:p>
        </p:txBody>
      </p:sp>
      <p:sp>
        <p:nvSpPr>
          <p:cNvPr id="61" name="Shape 55"/>
          <p:cNvSpPr/>
          <p:nvPr/>
        </p:nvSpPr>
        <p:spPr>
          <a:xfrm>
            <a:off x="3429000" y="5687568"/>
            <a:ext cx="2514600" cy="310896"/>
          </a:xfrm>
          <a:prstGeom prst="rect">
            <a:avLst/>
          </a:prstGeom>
          <a:solidFill>
            <a:srgbClr val="7C3AED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56"/>
          <p:cNvSpPr/>
          <p:nvPr/>
        </p:nvSpPr>
        <p:spPr>
          <a:xfrm>
            <a:off x="3502152" y="57332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6FE"/>
                </a:solidFill>
              </a:rPr>
              <a:t>2. RAM Kullanımı</a:t>
            </a:r>
            <a:endParaRPr lang="en-US" sz="950" dirty="0"/>
          </a:p>
        </p:txBody>
      </p:sp>
      <p:sp>
        <p:nvSpPr>
          <p:cNvPr id="63" name="Shape 57"/>
          <p:cNvSpPr/>
          <p:nvPr/>
        </p:nvSpPr>
        <p:spPr>
          <a:xfrm>
            <a:off x="6126480" y="5687568"/>
            <a:ext cx="2514600" cy="310896"/>
          </a:xfrm>
          <a:prstGeom prst="rect">
            <a:avLst/>
          </a:prstGeom>
          <a:solidFill>
            <a:srgbClr val="7C3AED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58"/>
          <p:cNvSpPr/>
          <p:nvPr/>
        </p:nvSpPr>
        <p:spPr>
          <a:xfrm>
            <a:off x="6199632" y="57332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6FE"/>
                </a:solidFill>
              </a:rPr>
              <a:t>3. OCR CER &amp; WER</a:t>
            </a:r>
            <a:endParaRPr lang="en-US" sz="950" dirty="0"/>
          </a:p>
        </p:txBody>
      </p:sp>
      <p:sp>
        <p:nvSpPr>
          <p:cNvPr id="65" name="Shape 59"/>
          <p:cNvSpPr/>
          <p:nvPr/>
        </p:nvSpPr>
        <p:spPr>
          <a:xfrm>
            <a:off x="8823960" y="5687568"/>
            <a:ext cx="2514600" cy="310896"/>
          </a:xfrm>
          <a:prstGeom prst="rect">
            <a:avLst/>
          </a:prstGeom>
          <a:solidFill>
            <a:srgbClr val="7C3AED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0"/>
          <p:cNvSpPr/>
          <p:nvPr/>
        </p:nvSpPr>
        <p:spPr>
          <a:xfrm>
            <a:off x="8897112" y="57332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6FE"/>
                </a:solidFill>
              </a:rPr>
              <a:t>4. NER P/R/F1</a:t>
            </a:r>
            <a:endParaRPr lang="en-US" sz="950" dirty="0"/>
          </a:p>
        </p:txBody>
      </p:sp>
      <p:sp>
        <p:nvSpPr>
          <p:cNvPr id="67" name="Shape 61"/>
          <p:cNvSpPr/>
          <p:nvPr/>
        </p:nvSpPr>
        <p:spPr>
          <a:xfrm>
            <a:off x="731520" y="6089904"/>
            <a:ext cx="2514600" cy="310896"/>
          </a:xfrm>
          <a:prstGeom prst="rect">
            <a:avLst/>
          </a:prstGeom>
          <a:solidFill>
            <a:srgbClr val="7C3AED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62"/>
          <p:cNvSpPr/>
          <p:nvPr/>
        </p:nvSpPr>
        <p:spPr>
          <a:xfrm>
            <a:off x="804672" y="61356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6FE"/>
                </a:solidFill>
              </a:rPr>
              <a:t>5. Duygu Sınıf F1</a:t>
            </a:r>
            <a:endParaRPr lang="en-US" sz="950" dirty="0"/>
          </a:p>
        </p:txBody>
      </p:sp>
      <p:sp>
        <p:nvSpPr>
          <p:cNvPr id="69" name="Shape 63"/>
          <p:cNvSpPr/>
          <p:nvPr/>
        </p:nvSpPr>
        <p:spPr>
          <a:xfrm>
            <a:off x="3429000" y="6089904"/>
            <a:ext cx="2514600" cy="310896"/>
          </a:xfrm>
          <a:prstGeom prst="rect">
            <a:avLst/>
          </a:prstGeom>
          <a:solidFill>
            <a:srgbClr val="7C3AED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Text 64"/>
          <p:cNvSpPr/>
          <p:nvPr/>
        </p:nvSpPr>
        <p:spPr>
          <a:xfrm>
            <a:off x="3502152" y="61356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6FE"/>
                </a:solidFill>
              </a:rPr>
              <a:t>6. RAG MRR &amp; Hit@K</a:t>
            </a:r>
            <a:endParaRPr lang="en-US" sz="950" dirty="0"/>
          </a:p>
        </p:txBody>
      </p:sp>
      <p:sp>
        <p:nvSpPr>
          <p:cNvPr id="71" name="Shape 65"/>
          <p:cNvSpPr/>
          <p:nvPr/>
        </p:nvSpPr>
        <p:spPr>
          <a:xfrm>
            <a:off x="6126480" y="6089904"/>
            <a:ext cx="2514600" cy="310896"/>
          </a:xfrm>
          <a:prstGeom prst="rect">
            <a:avLst/>
          </a:prstGeom>
          <a:solidFill>
            <a:srgbClr val="7C3AED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Text 66"/>
          <p:cNvSpPr/>
          <p:nvPr/>
        </p:nvSpPr>
        <p:spPr>
          <a:xfrm>
            <a:off x="6199632" y="61356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6FE"/>
                </a:solidFill>
              </a:rPr>
              <a:t>7. Confusion Matrix</a:t>
            </a:r>
            <a:endParaRPr lang="en-US" sz="950" dirty="0"/>
          </a:p>
        </p:txBody>
      </p:sp>
      <p:sp>
        <p:nvSpPr>
          <p:cNvPr id="73" name="Shape 67"/>
          <p:cNvSpPr/>
          <p:nvPr/>
        </p:nvSpPr>
        <p:spPr>
          <a:xfrm>
            <a:off x="8823960" y="6089904"/>
            <a:ext cx="2514600" cy="310896"/>
          </a:xfrm>
          <a:prstGeom prst="rect">
            <a:avLst/>
          </a:prstGeom>
          <a:solidFill>
            <a:srgbClr val="7C3AED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4" name="Text 68"/>
          <p:cNvSpPr/>
          <p:nvPr/>
        </p:nvSpPr>
        <p:spPr>
          <a:xfrm>
            <a:off x="8897112" y="61356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6FE"/>
                </a:solidFill>
              </a:rPr>
              <a:t>8. Genel Özet</a:t>
            </a:r>
            <a:endParaRPr lang="en-US" sz="950" dirty="0"/>
          </a:p>
        </p:txBody>
      </p:sp>
      <p:sp>
        <p:nvSpPr>
          <p:cNvPr id="75" name="Text 69"/>
          <p:cNvSpPr/>
          <p:nvPr/>
        </p:nvSpPr>
        <p:spPr>
          <a:xfrm>
            <a:off x="8988552" y="6263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4B5FD"/>
                </a:solidFill>
              </a:rPr>
              <a:t>output/final_dashboard.png · 150 DPI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21A8"/>
                </a:solidFill>
              </a:rPr>
              <a:t>Gradio Arayüzü &amp; Pipeline Entegrasyonu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5 Sekmeli İnteraktif Arayüz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58368" y="1499616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361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Soru-Cevap (RAG)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61872" y="1709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Soru gir, Top-K ayarla; cevap + kaynak chunk'lar + güven skoru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5394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58368" y="2505456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5420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Benchmark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61872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60 soruluk test — k değerine göre MRR / Hit@K yeniden hesaplanır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5394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658368" y="3511296"/>
            <a:ext cx="475488" cy="47548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5478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</a:rPr>
              <a:t>Duygu Analizi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61872" y="3721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Türkçe metin girişi → anlık Pos/Neg/Nötr + skor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4343400"/>
            <a:ext cx="5394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658368" y="4517136"/>
            <a:ext cx="475488" cy="47548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5537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33EA"/>
                </a:solidFill>
              </a:rPr>
              <a:t>NER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261872" y="4727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Metindeki varlıkları etiket bazında listeler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5349240"/>
            <a:ext cx="5394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658368" y="5522976"/>
            <a:ext cx="475488" cy="475488"/>
          </a:xfrm>
          <a:prstGeom prst="ellipse">
            <a:avLst/>
          </a:prstGeom>
          <a:solidFill>
            <a:srgbClr val="A21CAF"/>
          </a:solidFill>
          <a:ln w="12700">
            <a:solidFill>
              <a:srgbClr val="A21CA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55955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61872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1CAF"/>
                </a:solidFill>
              </a:rPr>
              <a:t>Sistem Bilgisi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261872" y="5733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Chunk sayısı · MRR · Hit@K · RAM kullanımı · embedding boyutu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400800" y="8229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MiniPipeline Sınıfı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400800" y="13258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4"/>
          <p:cNvSpPr/>
          <p:nvPr/>
        </p:nvSpPr>
        <p:spPr>
          <a:xfrm>
            <a:off x="6400800" y="132588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25"/>
          <p:cNvSpPr/>
          <p:nvPr/>
        </p:nvSpPr>
        <p:spPr>
          <a:xfrm>
            <a:off x="6565392" y="1417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run(image_path)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6565392" y="176479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4A7A"/>
                </a:solidFill>
              </a:rPr>
              <a:t>Tek görüntü için OCR→NER→Duygu→RAG zincirini çalıştırır; PipelineState döner.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400800" y="24688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28"/>
          <p:cNvSpPr/>
          <p:nvPr/>
        </p:nvSpPr>
        <p:spPr>
          <a:xfrm>
            <a:off x="6400800" y="246888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29"/>
          <p:cNvSpPr/>
          <p:nvPr/>
        </p:nvSpPr>
        <p:spPr>
          <a:xfrm>
            <a:off x="6565392" y="2560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run_batch(paths)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6565392" y="290779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4A7A"/>
                </a:solidFill>
              </a:rPr>
              <a:t>N görüntüyü sırayla işler; her belgede try-except ile hata izolasyonu sağlanır.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400800" y="36118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9" name="Shape 32"/>
          <p:cNvSpPr/>
          <p:nvPr/>
        </p:nvSpPr>
        <p:spPr>
          <a:xfrm>
            <a:off x="6400800" y="3611880"/>
            <a:ext cx="64008" cy="960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3"/>
          <p:cNvSpPr/>
          <p:nvPr/>
        </p:nvSpPr>
        <p:spPr>
          <a:xfrm>
            <a:off x="6565392" y="3703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save_report()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6565392" y="405079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4A7A"/>
                </a:solidFill>
              </a:rPr>
              <a:t>Tüm belge sonuçlarını zaman damgalı JSON'a yazar (pipeline_report_YYYYMMDD.json).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6400800" y="4846320"/>
            <a:ext cx="5577840" cy="1600200"/>
          </a:xfrm>
          <a:prstGeom prst="rect">
            <a:avLst/>
          </a:prstGeom>
          <a:solidFill>
            <a:srgbClr val="1E1B4B"/>
          </a:solidFill>
          <a:ln w="1524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3" name="Text 36"/>
          <p:cNvSpPr/>
          <p:nvPr/>
        </p:nvSpPr>
        <p:spPr>
          <a:xfrm>
            <a:off x="6583680" y="4937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D6FE"/>
                </a:solidFill>
              </a:rPr>
              <a:t>JSON Rapor Yapısı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6537960" y="528523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"version": "2.0.0",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"documents": [{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"ocr": { confidence, cer, wer, text_preview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"ner": { entity_count, precision, recall, f1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"sentiment": { label, score, emoji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"rag": [{ query, answer, confidence }]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 }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548640" y="6053328"/>
            <a:ext cx="5394960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39"/>
          <p:cNvSpPr/>
          <p:nvPr/>
        </p:nvSpPr>
        <p:spPr>
          <a:xfrm>
            <a:off x="685800" y="6144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Hata Yönetimi: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2560320" y="6144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4A7A"/>
                </a:solidFill>
              </a:rPr>
              <a:t>Her modül try-except ile izole edilir; hata oluşsa da diğer belgeler işlemeye devam eder. Tam traceback log dosyasına yazılır.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21A8"/>
                </a:solidFill>
              </a:rPr>
              <a:t>Tasarım Kararları &amp; Kısıtlamalar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Önemli Tasarım Tercihleri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Neden spaCy değil Regex?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46504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tr_core_news_sm küçük eğitim seti nedeniyle yapısal varlıklarda yetersiz kalır. Regex desenleri para, tarih, yüzde kategorilerinde model indirmesiz çalışır ve üstün doğruluk verir.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39496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Neden Extractive Generation?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026664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Türkçe Seq2Seq modeli çalıştırmak yüksek kaynak gerektirir. Extractive yaklaşım CPU ortamında gerçek zamanlı yanıt üretmeyi mümkün kılar.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9496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64008" cy="10972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Neden FAISS IndexFlatIP?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306824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Veri seti boyutu (birkaç yüz chunk) yaklaşık arama yöntemlerini gereksiz kılar. Normalize vektörlerle tam kosinüs benzerliği araması en doğru sonucu verir.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539496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9333E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64008" cy="10972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31520" y="5257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33EA"/>
                </a:solidFill>
              </a:rPr>
              <a:t>Neden Otomatik Ground Truth?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586984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Aynı regex motoru referans metinler üzerinde çalıştırılarak ground truth üretilir. Tutarlıdır ancak model hatasını değil sadece regex tutarlılığını ölçer.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8229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Bilinen Kısıtlamalar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1325880"/>
            <a:ext cx="557784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6400800" y="1325880"/>
            <a:ext cx="201168" cy="8412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693408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</a:rPr>
              <a:t>OCR Kalite Bağımlılığı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93408" y="173736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El yazısı veya karmaşık arka planlı belgeler hata oranını belirgin biçimde artırır.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2350008"/>
            <a:ext cx="557784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6400800" y="2350008"/>
            <a:ext cx="20116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693408" y="2441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</a:rPr>
              <a:t>NER Kapsam Sınırı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93408" y="276148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Regex desenleri önceden tanımlı kategorilerle sınırlıdır; ürün adları, etkinlikler kapsam dışıdır.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374136"/>
            <a:ext cx="557784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6400800" y="3374136"/>
            <a:ext cx="201168" cy="8412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693408" y="34655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</a:rPr>
              <a:t>BERT Token Sınırı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93408" y="378561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512 token üzeri metinler chunk'lanır; ağırlıklı ortalama bir yaklaşım hatası kaynağı olabilir.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4398264"/>
            <a:ext cx="557784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6400800" y="4398264"/>
            <a:ext cx="20116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693408" y="4489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</a:rPr>
              <a:t>Extractive Sınırı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93408" y="480974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Bilgi tabanında doğrudan cümle olarak bulunmayan sorularda cevap kalitesi düşer.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5422392"/>
            <a:ext cx="557784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6400800" y="5422392"/>
            <a:ext cx="201168" cy="841248"/>
          </a:xfrm>
          <a:prstGeom prst="rect">
            <a:avLst/>
          </a:prstGeom>
          <a:solidFill>
            <a:srgbClr val="8B8BAD"/>
          </a:solidFill>
          <a:ln w="12700">
            <a:solidFill>
              <a:srgbClr val="8B8BA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693408" y="5513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</a:rPr>
              <a:t>Gradio Oturum Süresi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93408" y="583387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Python süreci kapandığında arayüz erişilemez hale gelir; kalıcı dağıtım için ek altyapı gerekir.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9875520" y="4626864"/>
            <a:ext cx="2743200" cy="2743200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772400" y="-731520"/>
            <a:ext cx="1828800" cy="1828800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15200" y="4572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</a:rPr>
              <a:t>Proje Özeti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06640" y="1078992"/>
            <a:ext cx="256032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772400" y="1078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4 modül · 1 pipeline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1737360"/>
            <a:ext cx="256032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772400" y="17373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7 adım OCR preprocessing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2395728"/>
            <a:ext cx="256032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772400" y="23957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7 NER varlık kategorisi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06640" y="3054096"/>
            <a:ext cx="256032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772400" y="30540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18 cümlelik duygu test seti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3712464"/>
            <a:ext cx="256032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72400" y="37124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60 soruluk RAG benchmark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0" y="4370832"/>
            <a:ext cx="256032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772400" y="43708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8 panelli akademik dashboard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0" y="5029200"/>
            <a:ext cx="256032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7772400" y="5029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Gradio ile interaktif arayüz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5687568"/>
            <a:ext cx="256032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772400" y="56875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JSON tabanlı raporlama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2560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21A8"/>
                </a:solidFill>
              </a:rPr>
              <a:t>Teknoloji Yığını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" y="80467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4A7A"/>
                </a:solidFill>
              </a:rPr>
              <a:t>Tüm pipeline Google Colab CPU ortamında çalışır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1298448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548640" y="1298448"/>
            <a:ext cx="20574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21792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Görüntü İşleme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192024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822960" y="18470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OpenCV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235915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82296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Pillow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279806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822960" y="27249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Tesseract-OCR-tur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0" y="1298448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2743200" y="1298448"/>
            <a:ext cx="20574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2816352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NLP / ML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34640" y="192024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3017520" y="18470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transformers ≥ 4.41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4640" y="235915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301752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torch (CPU)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34640" y="279806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3017520" y="27249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sentence-transformers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1298448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4937760" y="1298448"/>
            <a:ext cx="20574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010912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Vektör Arama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0" y="192024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5212080" y="18470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faiss-cpu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0" y="235915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521208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FAISS IndexFlatIP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0" y="279806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5212080" y="27249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L2 normalizasyon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3447288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548640" y="3447288"/>
            <a:ext cx="20574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621792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Değerlendirme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" y="406908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822960" y="39959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0080" y="450799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822960" y="4434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CER/WER (Levenshtein)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080" y="49469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822960" y="48737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MRR / Hit@K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0" y="3447288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1" name="Shape 59"/>
          <p:cNvSpPr/>
          <p:nvPr/>
        </p:nvSpPr>
        <p:spPr>
          <a:xfrm>
            <a:off x="2743200" y="3447288"/>
            <a:ext cx="20574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2816352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Görselleştirme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834640" y="406908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3017520" y="39959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matplotlib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834640" y="450799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3017520" y="4434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seaborn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834640" y="49469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66"/>
          <p:cNvSpPr/>
          <p:nvPr/>
        </p:nvSpPr>
        <p:spPr>
          <a:xfrm>
            <a:off x="3017520" y="48737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plotly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937760" y="3447288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0" name="Shape 68"/>
          <p:cNvSpPr/>
          <p:nvPr/>
        </p:nvSpPr>
        <p:spPr>
          <a:xfrm>
            <a:off x="4937760" y="3447288"/>
            <a:ext cx="20574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5010912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Arayüz &amp; Raporlama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029200" y="406908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Text 71"/>
          <p:cNvSpPr/>
          <p:nvPr/>
        </p:nvSpPr>
        <p:spPr>
          <a:xfrm>
            <a:off x="5212080" y="39959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gradio ≥ 4.40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029200" y="450799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5" name="Text 73"/>
          <p:cNvSpPr/>
          <p:nvPr/>
        </p:nvSpPr>
        <p:spPr>
          <a:xfrm>
            <a:off x="5212080" y="4434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wikipedia-api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029200" y="494690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Text 75"/>
          <p:cNvSpPr/>
          <p:nvPr/>
        </p:nvSpPr>
        <p:spPr>
          <a:xfrm>
            <a:off x="5212080" y="48737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4A7A"/>
                </a:solidFill>
              </a:rPr>
              <a:t>JSON rapor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48640" y="6172200"/>
            <a:ext cx="640080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9" name="Shape 77"/>
          <p:cNvSpPr/>
          <p:nvPr/>
        </p:nvSpPr>
        <p:spPr>
          <a:xfrm>
            <a:off x="685800" y="6236208"/>
            <a:ext cx="1316736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Text 78"/>
          <p:cNvSpPr/>
          <p:nvPr/>
        </p:nvSpPr>
        <p:spPr>
          <a:xfrm>
            <a:off x="749808" y="6236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Python 3.10+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1965960" y="6236208"/>
            <a:ext cx="1316736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2" name="Text 80"/>
          <p:cNvSpPr/>
          <p:nvPr/>
        </p:nvSpPr>
        <p:spPr>
          <a:xfrm>
            <a:off x="2029968" y="6236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Google Colab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246120" y="6236208"/>
            <a:ext cx="969264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4" name="Text 82"/>
          <p:cNvSpPr/>
          <p:nvPr/>
        </p:nvSpPr>
        <p:spPr>
          <a:xfrm>
            <a:off x="3310128" y="62362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CPU Only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210812" y="6236208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6" name="Text 84"/>
          <p:cNvSpPr/>
          <p:nvPr/>
        </p:nvSpPr>
        <p:spPr>
          <a:xfrm>
            <a:off x="4590288" y="6236208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Türkçe NLP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289804" y="6248400"/>
            <a:ext cx="1613916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8" name="Text 86"/>
          <p:cNvSpPr/>
          <p:nvPr/>
        </p:nvSpPr>
        <p:spPr>
          <a:xfrm>
            <a:off x="5870448" y="6236208"/>
            <a:ext cx="1796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Bütünleşik Pipeline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1610</Words>
  <Application>Microsoft Office PowerPoint</Application>
  <PresentationFormat>Geniş ekran</PresentationFormat>
  <Paragraphs>326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Bütünleşik NLP Pipeline</dc:title>
  <dc:subject>PptxGenJS Presentation</dc:subject>
  <dc:creator>Gülsena ŞİŞLİ (Yazılım Stajyeri)</dc:creator>
  <cp:lastModifiedBy>Gülsena ŞİŞLİ (Yazılım Stajyeri)</cp:lastModifiedBy>
  <cp:revision>2</cp:revision>
  <dcterms:created xsi:type="dcterms:W3CDTF">2026-05-14T10:45:14Z</dcterms:created>
  <dcterms:modified xsi:type="dcterms:W3CDTF">2026-05-14T11:11:55Z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id_classification_secret=2155a213-0150-4c2d-9211-dba2def647fd</vt:lpwstr>
  </property>
  <property fmtid="{D5CDD505-2E9C-101B-9397-08002B2CF9AE}" pid="3" name="geodilabeluser">
    <vt:lpwstr>user=STJ085</vt:lpwstr>
  </property>
  <property fmtid="{D5CDD505-2E9C-101B-9397-08002B2CF9AE}" pid="4" name="geodilabeltime">
    <vt:lpwstr>datetime=2026-05-14T11:11:49.948Z</vt:lpwstr>
  </property>
</Properties>
</file>